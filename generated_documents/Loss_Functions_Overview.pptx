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1: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Title: Loss Functions: Guiding Machine Learning</a:t>
            </a:r>
          </a:p>
          <a:p>
            <a:r>
              <a:t>Subtitle: Understanding the "Cost" of Error</a:t>
            </a:r>
          </a:p>
          <a:p/>
          <a:p>
            <a:r>
              <a:t>Slide 2: Introduction to Loss Functions</a:t>
            </a:r>
          </a:p>
          <a:p>
            <a:r>
              <a:t>- What are Loss Functions?</a:t>
            </a:r>
          </a:p>
          <a:p>
            <a:r>
              <a:t>    - Quantify the penalty for incorrect predictions.</a:t>
            </a:r>
          </a:p>
          <a:p>
            <a:r>
              <a:t>    - Measure how "bad" a model's prediction is compared to the actual target value.</a:t>
            </a:r>
          </a:p>
          <a:p>
            <a:r>
              <a:t>- General Idea:</a:t>
            </a:r>
          </a:p>
          <a:p>
            <a:r>
              <a:t>    - For a prediction `θT x` and a true target `y`, the loss is typically `L(θT x, y)`.</a:t>
            </a:r>
          </a:p>
          <a:p>
            <a:r>
              <a:t>    - Primary goal of training is to minimize this loss.</a:t>
            </a:r>
          </a:p>
          <a:p/>
          <a:p>
            <a:r>
              <a:t>Slide 3: The Utility of Loss Functions (Part 1)</a:t>
            </a:r>
          </a:p>
          <a:p>
            <a:r>
              <a:t>- Guiding Model Optimization:</a:t>
            </a:r>
          </a:p>
          <a:p>
            <a:r>
              <a:t>    - Primary utility.</a:t>
            </a:r>
          </a:p>
          <a:p>
            <a:r>
              <a:t>    - During training, loss function calculates the "cost" or "penalty" of predictions.</a:t>
            </a:r>
          </a:p>
          <a:p>
            <a:r>
              <a:t>    - Optimization algorithms (e.g., gradient descent) use loss to adjust model parameters (weights, biases) to reduce error and improve accuracy.</a:t>
            </a:r>
          </a:p>
          <a:p>
            <a:r>
              <a:t>    - It's the "compass" that guides the model towards better performance.</a:t>
            </a:r>
          </a:p>
          <a:p/>
          <a:p>
            <a:r>
              <a:t>Slide 4: The Utility of Loss Functions (Part 2)</a:t>
            </a:r>
          </a:p>
          <a:p>
            <a:r>
              <a:t>- Evaluating Model Performance:</a:t>
            </a:r>
          </a:p>
          <a:p>
            <a:r>
              <a:t>    - Provides continuous feedback during training.</a:t>
            </a:r>
          </a:p>
          <a:p>
            <a:r>
              <a:t>    - Loss on validation/test sets evaluates generalization ability and compares models.</a:t>
            </a:r>
          </a:p>
          <a:p>
            <a:r>
              <a:t>    - Lower loss generally indicates a better-performing model.</a:t>
            </a:r>
          </a:p>
          <a:p>
            <a:r>
              <a:t>- Defining the Problem's Objective:</a:t>
            </a:r>
          </a:p>
          <a:p>
            <a:r>
              <a:t>    - Choice of loss function implicitly defines what "good" performance means.</a:t>
            </a:r>
          </a:p>
          <a:p>
            <a:r>
              <a:t>    - Tailored to different problem types (regression, classification, etc.).</a:t>
            </a:r>
          </a:p>
          <a:p/>
          <a:p>
            <a:r>
              <a:t>Slide 5: Key Characteristics of Loss Functions</a:t>
            </a:r>
          </a:p>
          <a:p>
            <a:r>
              <a:t>- Desired Properties:</a:t>
            </a:r>
          </a:p>
          <a:p>
            <a:r>
              <a:t>    - Low loss when prediction is correct (positive margin `z = yxT θ`).</a:t>
            </a:r>
          </a:p>
          <a:p>
            <a:r>
              <a:t>    - High loss when prediction is incorrect (negative margin).</a:t>
            </a:r>
          </a:p>
          <a:p>
            <a:r>
              <a:t>    - Ideally convex and continuous.</a:t>
            </a:r>
          </a:p>
          <a:p>
            <a:r>
              <a:t>    - Approaches zero as margin becomes very positive.</a:t>
            </a:r>
          </a:p>
          <a:p>
            <a:r>
              <a:t>    - Increases towards infinity as margin becomes very negative.</a:t>
            </a:r>
          </a:p>
          <a:p>
            <a:r>
              <a:t>- Empirical Risk:</a:t>
            </a:r>
          </a:p>
          <a:p>
            <a:r>
              <a:t>    - Model parameters are optimized by minimizing average loss over training examples: `J(θ) = (1/m) * Σ(i=1 to m) ϕ(y(i)θT x(i))`.</a:t>
            </a:r>
          </a:p>
          <a:p/>
          <a:p>
            <a:r>
              <a:t>Slide 6: Common Examples: Regression</a:t>
            </a:r>
          </a:p>
          <a:p>
            <a:r>
              <a:t>- Squared Error (Mean Squared Error - MSE):</a:t>
            </a:r>
          </a:p>
          <a:p>
            <a:r>
              <a:t>    - Definition: `(1/2)(z − y)2` or `(1/2)(y_pred - y_true)^2`.</a:t>
            </a:r>
          </a:p>
          <a:p>
            <a:r>
              <a:t>    - Penalizes larger errors more heavily.</a:t>
            </a:r>
          </a:p>
          <a:p>
            <a:r>
              <a:t>    - Primarily used in linear regression.</a:t>
            </a:r>
          </a:p>
          <a:p/>
          <a:p>
            <a:r>
              <a:t>Slide 7: Common Examples: Classification</a:t>
            </a:r>
          </a:p>
          <a:p>
            <a:r>
              <a:t>- Logistic Loss (Cross-Entropy Loss):</a:t>
            </a:r>
          </a:p>
          <a:p>
            <a:r>
              <a:t>    - Definition: `log(1 + e−z)`.</a:t>
            </a:r>
          </a:p>
          <a:p>
            <a:r>
              <a:t>    - Used in logistic regression.</a:t>
            </a:r>
          </a:p>
          <a:p>
            <a:r>
              <a:t>    - Aims to maximize the probability of correct classifications.</a:t>
            </a:r>
          </a:p>
          <a:p>
            <a:r>
              <a:t>- Hinge Loss:</a:t>
            </a:r>
          </a:p>
          <a:p>
            <a:r>
              <a:t>    - Definition: `max{1 − z, 0}`.</a:t>
            </a:r>
          </a:p>
          <a:p>
            <a:r>
              <a:t>    - Used in Support Vector Machines (SVMs).</a:t>
            </a:r>
          </a:p>
          <a:p>
            <a:r>
              <a:t>    - Focuses on ensuring correctly classified samples have a sufficient "margin" of confidence.</a:t>
            </a:r>
          </a:p>
          <a:p>
            <a:r>
              <a:t>- Zero-One Loss:</a:t>
            </a:r>
          </a:p>
          <a:p>
            <a:r>
              <a:t>    - Definition: 1 for error, 0 for correct.</a:t>
            </a:r>
          </a:p>
          <a:p>
            <a:r>
              <a:t>    - Counts misclassifications.</a:t>
            </a:r>
          </a:p>
          <a:p>
            <a:r>
              <a:t>    - Rarely used directly for optimization (discontinuous, non-convex).</a:t>
            </a:r>
          </a:p>
          <a:p/>
          <a:p>
            <a:r>
              <a:t>Slide 8: Conclusion</a:t>
            </a:r>
          </a:p>
          <a:p>
            <a:r>
              <a:t>- Loss functions are critical for guiding the learning process.</a:t>
            </a:r>
          </a:p>
          <a:p>
            <a:r>
              <a:t>- They quantify error, enable optimization, and define problem objectives.</a:t>
            </a:r>
          </a:p>
          <a:p>
            <a:r>
              <a:t>- Different problems and models utilize different loss functions based on their mathematical properties and desired outcomes.</a:t>
            </a:r>
          </a:p>
          <a:p>
            <a:r>
              <a:t>- Essential for effective machine learning model training and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